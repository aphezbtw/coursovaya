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Nunito Light" panose="020F0502020204030204" pitchFamily="2" charset="-52"/>
      <p:italic r:id="rId13"/>
    </p:embeddedFont>
    <p:embeddedFont>
      <p:font typeface="Nunito SemiBold" pitchFamily="2" charset="-52"/>
      <p:regular r:id="rId14"/>
    </p:embeddedFont>
    <p:embeddedFont>
      <p:font typeface="PT Sans" panose="020B0503020203020204" pitchFamily="34" charset="-52"/>
      <p:regular r:id="rId1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1120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Relationship Id="rId14" Type="http://schemas.openxmlformats.org/officeDocument/2006/relationships/image" Target="../media/image3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3F3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86" y="385465"/>
            <a:ext cx="3279428" cy="43725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52577" y="1421457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Информационная система «Служба занятости»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52577" y="2525837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Разработка и сопровождение веб-приложения для автоматизации взаимодействия соискателей, работодателей и администраторов на базе микрофреймворка Flask.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3952577" y="3426544"/>
            <a:ext cx="1170161" cy="281136"/>
          </a:xfrm>
          <a:prstGeom prst="roundRect">
            <a:avLst>
              <a:gd name="adj" fmla="val 63861"/>
            </a:avLst>
          </a:prstGeom>
          <a:solidFill>
            <a:srgbClr val="CFD6FC"/>
          </a:solidFill>
          <a:ln/>
        </p:spPr>
      </p:sp>
      <p:sp>
        <p:nvSpPr>
          <p:cNvPr id="7" name="Text 4"/>
          <p:cNvSpPr/>
          <p:nvPr/>
        </p:nvSpPr>
        <p:spPr>
          <a:xfrm>
            <a:off x="4042321" y="3471416"/>
            <a:ext cx="144787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КУРСОВАЯ РАБОТА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197525" y="3412257"/>
            <a:ext cx="1538213" cy="309711"/>
          </a:xfrm>
          <a:prstGeom prst="roundRect">
            <a:avLst>
              <a:gd name="adj" fmla="val 57969"/>
            </a:avLst>
          </a:prstGeom>
          <a:noFill/>
          <a:ln w="14288">
            <a:solidFill>
              <a:srgbClr val="2D4D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01555" y="3471416"/>
            <a:ext cx="1787351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· FLASK · SQLITE</a:t>
            </a:r>
            <a:endParaRPr lang="en-US" sz="9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D33A466-FFB8-33F0-A2F2-899DA3037670}"/>
              </a:ext>
            </a:extLst>
          </p:cNvPr>
          <p:cNvSpPr/>
          <p:nvPr/>
        </p:nvSpPr>
        <p:spPr>
          <a:xfrm>
            <a:off x="7804150" y="4699000"/>
            <a:ext cx="1265064" cy="4318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53EA53-61A7-E52E-5C03-B3AC3481D2ED}"/>
              </a:ext>
            </a:extLst>
          </p:cNvPr>
          <p:cNvSpPr txBox="1"/>
          <p:nvPr/>
        </p:nvSpPr>
        <p:spPr>
          <a:xfrm>
            <a:off x="273050" y="4337050"/>
            <a:ext cx="308116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500" dirty="0"/>
              <a:t>Выполнил студент группы</a:t>
            </a:r>
            <a:r>
              <a:rPr lang="en-US" sz="1500" dirty="0"/>
              <a:t>: </a:t>
            </a:r>
            <a:r>
              <a:rPr lang="ru-RU" sz="1500" dirty="0"/>
              <a:t>Исп34-9 </a:t>
            </a:r>
            <a:r>
              <a:rPr lang="ru-RU" sz="1500"/>
              <a:t>Вахрушев Д.А</a:t>
            </a:r>
            <a:endParaRPr lang="ru-RU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84386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Цели и задачи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605558"/>
            <a:ext cx="2596679" cy="25966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89945" y="1498327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Цель работы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489945" y="1867867"/>
            <a:ext cx="5135166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Разработать и обеспечить сопровождение информационной системы службы занятости, предоставляющей функционал для соискателей и работодателей, а также проанализировать методики её дальнейшего развития.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3489945" y="2735610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Задачи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489945" y="3105150"/>
            <a:ext cx="5135166" cy="1301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Разработать веб-приложение с ролями: соискатель, работодатель, администратор</a:t>
            </a:r>
            <a:endParaRPr lang="en-US" sz="11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Рассмотреть процесс сопровождения: переход от 1 версий ко 2 версии, исправление ошибок, добавление функций</a:t>
            </a:r>
            <a:endParaRPr lang="en-US" sz="11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Подготовить руководство пользователя для каждой роли</a:t>
            </a:r>
            <a:endParaRPr lang="en-US" sz="115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170DC7A-AA0F-EC4D-A11C-60867CBAF737}"/>
              </a:ext>
            </a:extLst>
          </p:cNvPr>
          <p:cNvSpPr/>
          <p:nvPr/>
        </p:nvSpPr>
        <p:spPr>
          <a:xfrm>
            <a:off x="7804150" y="4699000"/>
            <a:ext cx="1265064" cy="4318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3F3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6289" y="380777"/>
            <a:ext cx="3286348" cy="4381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9095" y="473720"/>
            <a:ext cx="4123804" cy="41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Теоретические основы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99095" y="1096938"/>
            <a:ext cx="2290465" cy="2163887"/>
          </a:xfrm>
          <a:prstGeom prst="roundRect">
            <a:avLst>
              <a:gd name="adj" fmla="val 9885"/>
            </a:avLst>
          </a:prstGeom>
          <a:solidFill>
            <a:srgbClr val="F3F3FF"/>
          </a:solidFill>
          <a:ln w="14288">
            <a:solidFill>
              <a:srgbClr val="2D4D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5960" y="1253803"/>
            <a:ext cx="167759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АИС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5960" y="1544910"/>
            <a:ext cx="1976735" cy="1559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Человеко-машинная система для автоматизации сбора, хранения и обработки информации. В службе занятости — связующее звено между соискателями, работодателями и госорганами.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25440" y="1096938"/>
            <a:ext cx="2290465" cy="2163887"/>
          </a:xfrm>
          <a:prstGeom prst="roundRect">
            <a:avLst>
              <a:gd name="adj" fmla="val 9885"/>
            </a:avLst>
          </a:prstGeom>
          <a:solidFill>
            <a:srgbClr val="F3F3FF"/>
          </a:solidFill>
          <a:ln w="14288">
            <a:solidFill>
              <a:srgbClr val="018C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82305" y="1253803"/>
            <a:ext cx="1704305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Жизненный цикл ПО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082305" y="1544910"/>
            <a:ext cx="1976735" cy="1336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ISO/IEC 12207: разработка, эксплуатация, сопровождение. Модели: каскадная, итеративная, спиральная. В работе — эволюционное прототипирование.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9095" y="3396704"/>
            <a:ext cx="4716810" cy="1273001"/>
          </a:xfrm>
          <a:prstGeom prst="roundRect">
            <a:avLst>
              <a:gd name="adj" fmla="val 16803"/>
            </a:avLst>
          </a:prstGeom>
          <a:solidFill>
            <a:srgbClr val="F3F3FF"/>
          </a:solidFill>
          <a:ln w="14288">
            <a:solidFill>
              <a:srgbClr val="DA33B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5960" y="3553569"/>
            <a:ext cx="2603674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Сопровождение (ISO/IEC 14764)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55960" y="3844677"/>
            <a:ext cx="4403080" cy="668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Корректирующее, адаптивное, совершенствующее, профилактическое. Типовой процесс: анализ запроса → планирование → разработка → приёмка → обучение.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9095" y="394171"/>
            <a:ext cx="5081215" cy="41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Инструментальные средства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9095" y="1085329"/>
            <a:ext cx="356443" cy="3564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9095" y="1611660"/>
            <a:ext cx="167759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Python 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99095" y="1902768"/>
            <a:ext cx="3987924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Язык программирования с богатой экосистемой библиотек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6906" y="1085329"/>
            <a:ext cx="356443" cy="3564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56906" y="1611660"/>
            <a:ext cx="167759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Flask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656906" y="1902768"/>
            <a:ext cx="3987998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Микрофреймворк для веб-приложений — лёгкость и гибкость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9095" y="2397249"/>
            <a:ext cx="356443" cy="3564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9095" y="2923580"/>
            <a:ext cx="167759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SQLite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499095" y="3214688"/>
            <a:ext cx="3987924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Встраиваемая СУБД, упрощающая развёртывание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56906" y="2397249"/>
            <a:ext cx="356443" cy="3564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56906" y="2923580"/>
            <a:ext cx="167759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Git / GitHub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4656906" y="3214688"/>
            <a:ext cx="3987998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Система контроля версий и облачный репозиторий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9095" y="3709169"/>
            <a:ext cx="356443" cy="3564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9095" y="4235500"/>
            <a:ext cx="217981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HTML/CSS + Font Awesome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499095" y="4526607"/>
            <a:ext cx="3987924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Создание пользовательского интерфейса с иконками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56906" y="3709169"/>
            <a:ext cx="356443" cy="35644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656906" y="4235500"/>
            <a:ext cx="167759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Werkzeug</a:t>
            </a:r>
            <a:endParaRPr lang="en-US" sz="1300" dirty="0"/>
          </a:p>
        </p:txBody>
      </p:sp>
      <p:sp>
        <p:nvSpPr>
          <p:cNvPr id="20" name="Text 12"/>
          <p:cNvSpPr/>
          <p:nvPr/>
        </p:nvSpPr>
        <p:spPr>
          <a:xfrm>
            <a:off x="4656906" y="4526607"/>
            <a:ext cx="3987998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Библиотека для хэширования паролей и безопасности</a:t>
            </a:r>
            <a:endParaRPr lang="en-US" sz="1100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22769ED-49DF-D690-5427-44A752B2480A}"/>
              </a:ext>
            </a:extLst>
          </p:cNvPr>
          <p:cNvSpPr/>
          <p:nvPr/>
        </p:nvSpPr>
        <p:spPr>
          <a:xfrm>
            <a:off x="7804150" y="4699000"/>
            <a:ext cx="1265064" cy="4318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38770"/>
            <a:ext cx="7277174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Функциональные возможности системы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23577" y="1378000"/>
            <a:ext cx="2599209" cy="2083296"/>
          </a:xfrm>
          <a:prstGeom prst="roundRect">
            <a:avLst>
              <a:gd name="adj" fmla="val 4389"/>
            </a:avLst>
          </a:prstGeom>
          <a:solidFill>
            <a:srgbClr val="F3F3FF">
              <a:alpha val="75000"/>
            </a:srgbClr>
          </a:solidFill>
          <a:ln w="19050">
            <a:solidFill>
              <a:srgbClr val="2D4D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4527" y="1378000"/>
            <a:ext cx="76200" cy="2083296"/>
          </a:xfrm>
          <a:prstGeom prst="roundRect">
            <a:avLst>
              <a:gd name="adj" fmla="val 294514"/>
            </a:avLst>
          </a:prstGeom>
          <a:solidFill>
            <a:srgbClr val="2D4DF2"/>
          </a:solidFill>
          <a:ln/>
        </p:spPr>
      </p:sp>
      <p:sp>
        <p:nvSpPr>
          <p:cNvPr id="5" name="Text 3"/>
          <p:cNvSpPr/>
          <p:nvPr/>
        </p:nvSpPr>
        <p:spPr>
          <a:xfrm>
            <a:off x="749350" y="1546622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Соискатель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350" y="1856333"/>
            <a:ext cx="2204814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Регистрация, профиль с аватаром и резюме, поиск и фильтрация вакансий, отклик с возможностью отзыва, отслеживание статуса заявок.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72358" y="1378000"/>
            <a:ext cx="2599209" cy="2083296"/>
          </a:xfrm>
          <a:prstGeom prst="roundRect">
            <a:avLst>
              <a:gd name="adj" fmla="val 4389"/>
            </a:avLst>
          </a:prstGeom>
          <a:solidFill>
            <a:srgbClr val="F3F3FF">
              <a:alpha val="75000"/>
            </a:srgbClr>
          </a:solidFill>
          <a:ln w="19050">
            <a:solidFill>
              <a:srgbClr val="018C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53308" y="1378000"/>
            <a:ext cx="76200" cy="2083296"/>
          </a:xfrm>
          <a:prstGeom prst="roundRect">
            <a:avLst>
              <a:gd name="adj" fmla="val 294514"/>
            </a:avLst>
          </a:prstGeom>
          <a:solidFill>
            <a:srgbClr val="018CE1"/>
          </a:solidFill>
          <a:ln/>
        </p:spPr>
      </p:sp>
      <p:sp>
        <p:nvSpPr>
          <p:cNvPr id="9" name="Text 7"/>
          <p:cNvSpPr/>
          <p:nvPr/>
        </p:nvSpPr>
        <p:spPr>
          <a:xfrm>
            <a:off x="3498131" y="1546622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Работодатель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98131" y="1856333"/>
            <a:ext cx="2204814" cy="1436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Публикация вакансий с зарплатой и описанием, просмотр откликнувшихся, принятие/отклонение кандидатов, автоматическое закрытие вакансии при найме.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21139" y="1378000"/>
            <a:ext cx="2599283" cy="2083296"/>
          </a:xfrm>
          <a:prstGeom prst="roundRect">
            <a:avLst>
              <a:gd name="adj" fmla="val 4389"/>
            </a:avLst>
          </a:prstGeom>
          <a:solidFill>
            <a:srgbClr val="F3F3FF">
              <a:alpha val="75000"/>
            </a:srgbClr>
          </a:solidFill>
          <a:ln w="19050">
            <a:solidFill>
              <a:srgbClr val="DA33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02089" y="1378000"/>
            <a:ext cx="76200" cy="2083296"/>
          </a:xfrm>
          <a:prstGeom prst="roundRect">
            <a:avLst>
              <a:gd name="adj" fmla="val 294514"/>
            </a:avLst>
          </a:prstGeom>
          <a:solidFill>
            <a:srgbClr val="DA33BF"/>
          </a:solidFill>
          <a:ln/>
        </p:spPr>
      </p:sp>
      <p:sp>
        <p:nvSpPr>
          <p:cNvPr id="13" name="Text 11"/>
          <p:cNvSpPr/>
          <p:nvPr/>
        </p:nvSpPr>
        <p:spPr>
          <a:xfrm>
            <a:off x="6246912" y="1546622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Администратор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46912" y="1856333"/>
            <a:ext cx="2204889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Управление пользователями (смена роли, удаление), управление вакансиями, контроль контента через встроенную панель.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23577" y="3629546"/>
            <a:ext cx="8096845" cy="875109"/>
          </a:xfrm>
          <a:prstGeom prst="roundRect">
            <a:avLst>
              <a:gd name="adj" fmla="val 25645"/>
            </a:avLst>
          </a:prstGeom>
          <a:solidFill>
            <a:srgbClr val="B6D6FC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50" y="3857030"/>
            <a:ext cx="187003" cy="14957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09724" y="3816474"/>
            <a:ext cx="7461126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Система построена по принципу MVC: модель (SQLite), представление (Jinja2), контроллер (маршруты Flask). Пароли хранятся в хэшированном виде.</a:t>
            </a:r>
            <a:endParaRPr lang="en-US" sz="115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8BEDEEB-0AEF-D8DA-9817-0B807510C79E}"/>
              </a:ext>
            </a:extLst>
          </p:cNvPr>
          <p:cNvSpPr/>
          <p:nvPr/>
        </p:nvSpPr>
        <p:spPr>
          <a:xfrm>
            <a:off x="7804150" y="4699000"/>
            <a:ext cx="1265064" cy="4318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953" y="390079"/>
            <a:ext cx="4504432" cy="364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Интерфейс системы: </a:t>
            </a:r>
            <a:r>
              <a:rPr lang="ru-RU" sz="22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1 версия</a:t>
            </a:r>
            <a:r>
              <a:rPr lang="en-US" sz="22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→ </a:t>
            </a:r>
            <a:r>
              <a:rPr lang="ru-RU" sz="22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2 версия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15" y="1040011"/>
            <a:ext cx="1528018" cy="152801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0779" y="1040011"/>
            <a:ext cx="1528093" cy="1528093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7916" y="1040011"/>
            <a:ext cx="1528093" cy="1528093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5054" y="1040011"/>
            <a:ext cx="1528093" cy="1528093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2192" y="1040011"/>
            <a:ext cx="1528093" cy="1528093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715" y="2667149"/>
            <a:ext cx="1528018" cy="1528018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548953" y="4390951"/>
            <a:ext cx="804609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Версия 1 — базовый MVP. Версия 2 — поиск и фильтры, пагинация, админ-панель, загрузка аватаров и резюме, улучшенный дизайн с hero-секцией и статистикой.</a:t>
            </a:r>
            <a:endParaRPr lang="en-US" sz="95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E4B2226-88D6-025C-88A0-4EE6903FBC9E}"/>
              </a:ext>
            </a:extLst>
          </p:cNvPr>
          <p:cNvSpPr/>
          <p:nvPr/>
        </p:nvSpPr>
        <p:spPr>
          <a:xfrm>
            <a:off x="7804150" y="4699000"/>
            <a:ext cx="1265064" cy="4318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063675"/>
            <a:ext cx="7410599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Сопровождение: от 1 версий ко 2 версий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877616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Проблемы 1 версий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23577" y="2247156"/>
            <a:ext cx="3865959" cy="1114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Нет поиска и фильтрации вакансий</a:t>
            </a:r>
            <a:endParaRPr lang="en-US" sz="11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Отсутствует пагинация</a:t>
            </a:r>
            <a:endParaRPr lang="en-US" sz="11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Нет административных функций</a:t>
            </a:r>
            <a:endParaRPr lang="en-US" sz="11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Ограниченные профили пользователей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759226" y="1877616"/>
            <a:ext cx="233444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Изменения в 2 версий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59226" y="2247156"/>
            <a:ext cx="3865959" cy="1780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Корректирующее:</a:t>
            </a: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перенос фильтрации на Python, исправление кодировки UTF-8, добавление колонок через ALTER TABLE</a:t>
            </a:r>
            <a:endParaRPr lang="en-US" sz="11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Совершенствующее:</a:t>
            </a: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поиск, фильтры, пагинация, админ-панель, загрузка файлов, отзыв отклика, счётчик откликов</a:t>
            </a:r>
            <a:endParaRPr lang="en-US" sz="11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Визуальное:</a:t>
            </a: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новый CSS, Font Awesome, адаптивность</a:t>
            </a:r>
            <a:endParaRPr lang="en-US" sz="115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007966E-7072-726A-EB1A-6E6D41C8B225}"/>
              </a:ext>
            </a:extLst>
          </p:cNvPr>
          <p:cNvSpPr/>
          <p:nvPr/>
        </p:nvSpPr>
        <p:spPr>
          <a:xfrm>
            <a:off x="7804150" y="4699000"/>
            <a:ext cx="1265064" cy="4318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5392" y="679772"/>
            <a:ext cx="8528968" cy="4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Руководство пользователя: ключевые операции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15392" y="1402854"/>
            <a:ext cx="294531" cy="1840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15392" y="1633984"/>
            <a:ext cx="3984129" cy="19050"/>
          </a:xfrm>
          <a:prstGeom prst="rect">
            <a:avLst/>
          </a:prstGeom>
          <a:solidFill>
            <a:srgbClr val="2D4DF2"/>
          </a:solidFill>
          <a:ln/>
        </p:spPr>
      </p:sp>
      <p:sp>
        <p:nvSpPr>
          <p:cNvPr id="5" name="Text 3"/>
          <p:cNvSpPr/>
          <p:nvPr/>
        </p:nvSpPr>
        <p:spPr>
          <a:xfrm>
            <a:off x="515392" y="1745679"/>
            <a:ext cx="173258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Регистрация и вход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15392" y="2049140"/>
            <a:ext cx="3984129" cy="701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Выбор роли (соискатель/работодатель), заполнение профиля. Пароль ≥4 символов. Вход по логину и паролю — роль определяется автоматически.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644479" y="1402854"/>
            <a:ext cx="294531" cy="1840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44479" y="1633984"/>
            <a:ext cx="3984129" cy="19050"/>
          </a:xfrm>
          <a:prstGeom prst="rect">
            <a:avLst/>
          </a:prstGeom>
          <a:solidFill>
            <a:srgbClr val="018CE1"/>
          </a:solidFill>
          <a:ln/>
        </p:spPr>
      </p:sp>
      <p:sp>
        <p:nvSpPr>
          <p:cNvPr id="9" name="Text 7"/>
          <p:cNvSpPr/>
          <p:nvPr/>
        </p:nvSpPr>
        <p:spPr>
          <a:xfrm>
            <a:off x="4644479" y="1745679"/>
            <a:ext cx="173258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Поиск вакансий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44479" y="2049140"/>
            <a:ext cx="3984129" cy="701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Поиск по ключевым словам, фильтр по зарплате, сортировка по дате/доходу, фильтр «за 7 дней». Пагинация — 5 записей на странице.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15392" y="3005733"/>
            <a:ext cx="294531" cy="1840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15392" y="3236863"/>
            <a:ext cx="3984129" cy="19050"/>
          </a:xfrm>
          <a:prstGeom prst="rect">
            <a:avLst/>
          </a:prstGeom>
          <a:solidFill>
            <a:srgbClr val="DA33BF"/>
          </a:solidFill>
          <a:ln/>
        </p:spPr>
      </p:sp>
      <p:sp>
        <p:nvSpPr>
          <p:cNvPr id="13" name="Text 11"/>
          <p:cNvSpPr/>
          <p:nvPr/>
        </p:nvSpPr>
        <p:spPr>
          <a:xfrm>
            <a:off x="515392" y="3348558"/>
            <a:ext cx="2466082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Отклик и управление наймом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15392" y="3652019"/>
            <a:ext cx="3984129" cy="701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Соискатель откликается на вакансию; может отозвать заявку в статусе «на рассмотрении». Работодатель принимает или отклоняет кандидатов — при принятии вакансия закрывается.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44479" y="3005733"/>
            <a:ext cx="294531" cy="1840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04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44479" y="3236863"/>
            <a:ext cx="3984129" cy="19050"/>
          </a:xfrm>
          <a:prstGeom prst="rect">
            <a:avLst/>
          </a:prstGeom>
          <a:solidFill>
            <a:srgbClr val="2D4DF2"/>
          </a:solidFill>
          <a:ln/>
        </p:spPr>
      </p:sp>
      <p:sp>
        <p:nvSpPr>
          <p:cNvPr id="17" name="Text 15"/>
          <p:cNvSpPr/>
          <p:nvPr/>
        </p:nvSpPr>
        <p:spPr>
          <a:xfrm>
            <a:off x="4644479" y="3348558"/>
            <a:ext cx="173258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Администрирование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44479" y="3652019"/>
            <a:ext cx="3984129" cy="467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Вход: admin / admin123. Управление пользователями (смена роли, удаление) и вакансиями через встроенную панель.</a:t>
            </a:r>
            <a:endParaRPr lang="en-US" sz="115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9B6113E-7F79-461C-23B3-03B80F977B98}"/>
              </a:ext>
            </a:extLst>
          </p:cNvPr>
          <p:cNvSpPr/>
          <p:nvPr/>
        </p:nvSpPr>
        <p:spPr>
          <a:xfrm>
            <a:off x="7804150" y="4699000"/>
            <a:ext cx="1265064" cy="4318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6660" y="321394"/>
            <a:ext cx="6917159" cy="343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Рекомендации по дальнейшему сопровождению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776660" y="847799"/>
            <a:ext cx="3749650" cy="1263923"/>
          </a:xfrm>
          <a:prstGeom prst="roundRect">
            <a:avLst>
              <a:gd name="adj" fmla="val 13872"/>
            </a:avLst>
          </a:prstGeom>
          <a:solidFill>
            <a:srgbClr val="F3F3FF"/>
          </a:solidFill>
          <a:ln w="14288">
            <a:solidFill>
              <a:srgbClr val="2D4D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7777" y="978917"/>
            <a:ext cx="350639" cy="350639"/>
          </a:xfrm>
          <a:prstGeom prst="roundRect">
            <a:avLst>
              <a:gd name="adj" fmla="val 16297185"/>
            </a:avLst>
          </a:prstGeom>
          <a:solidFill>
            <a:srgbClr val="2D4DF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4218" y="1075358"/>
            <a:ext cx="157758" cy="1577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7777" y="1420862"/>
            <a:ext cx="1607716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Резервное копирование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907777" y="1647527"/>
            <a:ext cx="3487415" cy="333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Ежедневное копирование job.db и папки uploads на внешний носитель или в облако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617616" y="847799"/>
            <a:ext cx="3749650" cy="1263923"/>
          </a:xfrm>
          <a:prstGeom prst="roundRect">
            <a:avLst>
              <a:gd name="adj" fmla="val 13872"/>
            </a:avLst>
          </a:prstGeom>
          <a:solidFill>
            <a:srgbClr val="F3F3FF"/>
          </a:solidFill>
          <a:ln w="14288">
            <a:solidFill>
              <a:srgbClr val="018C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48733" y="978917"/>
            <a:ext cx="350639" cy="350639"/>
          </a:xfrm>
          <a:prstGeom prst="roundRect">
            <a:avLst>
              <a:gd name="adj" fmla="val 16297185"/>
            </a:avLst>
          </a:prstGeom>
          <a:solidFill>
            <a:srgbClr val="018CE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45174" y="1075358"/>
            <a:ext cx="157758" cy="15775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48733" y="1420862"/>
            <a:ext cx="1461046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Промышленная СУБД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748733" y="1647527"/>
            <a:ext cx="3487415" cy="333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Миграция на PostgreSQL/MySQL с ORM SQLAlchemy при росте нагрузки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776660" y="2203028"/>
            <a:ext cx="3749650" cy="1263923"/>
          </a:xfrm>
          <a:prstGeom prst="roundRect">
            <a:avLst>
              <a:gd name="adj" fmla="val 13872"/>
            </a:avLst>
          </a:prstGeom>
          <a:solidFill>
            <a:srgbClr val="F3F3FF"/>
          </a:solidFill>
          <a:ln w="14288">
            <a:solidFill>
              <a:srgbClr val="DA33B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07777" y="2334146"/>
            <a:ext cx="350639" cy="350639"/>
          </a:xfrm>
          <a:prstGeom prst="roundRect">
            <a:avLst>
              <a:gd name="adj" fmla="val 16297185"/>
            </a:avLst>
          </a:prstGeom>
          <a:solidFill>
            <a:srgbClr val="DA33B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4218" y="2430587"/>
            <a:ext cx="157758" cy="15775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7777" y="2776091"/>
            <a:ext cx="1375097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Контейнеризация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907777" y="3002756"/>
            <a:ext cx="3487415" cy="333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Упаковка в Docker с compose-файлом для упрощения развёртывания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617616" y="2203028"/>
            <a:ext cx="3749650" cy="1263923"/>
          </a:xfrm>
          <a:prstGeom prst="roundRect">
            <a:avLst>
              <a:gd name="adj" fmla="val 13872"/>
            </a:avLst>
          </a:prstGeom>
          <a:solidFill>
            <a:srgbClr val="F3F3FF"/>
          </a:solidFill>
          <a:ln w="14288">
            <a:solidFill>
              <a:srgbClr val="2D4DF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48733" y="2334146"/>
            <a:ext cx="350639" cy="350639"/>
          </a:xfrm>
          <a:prstGeom prst="roundRect">
            <a:avLst>
              <a:gd name="adj" fmla="val 16297185"/>
            </a:avLst>
          </a:prstGeom>
          <a:solidFill>
            <a:srgbClr val="2D4DF2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45174" y="2430587"/>
            <a:ext cx="157758" cy="15775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48733" y="2776091"/>
            <a:ext cx="1430982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Тестирование и CI/CD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4748733" y="3002756"/>
            <a:ext cx="3487415" cy="333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Модульные тесты (pytest), автоматическое развёртывание через GitHub Actions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776660" y="3558257"/>
            <a:ext cx="3749650" cy="1263923"/>
          </a:xfrm>
          <a:prstGeom prst="roundRect">
            <a:avLst>
              <a:gd name="adj" fmla="val 13872"/>
            </a:avLst>
          </a:prstGeom>
          <a:solidFill>
            <a:srgbClr val="F3F3FF"/>
          </a:solidFill>
          <a:ln w="14288">
            <a:solidFill>
              <a:srgbClr val="018CE1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907777" y="3689375"/>
            <a:ext cx="350639" cy="350639"/>
          </a:xfrm>
          <a:prstGeom prst="roundRect">
            <a:avLst>
              <a:gd name="adj" fmla="val 16297185"/>
            </a:avLst>
          </a:prstGeom>
          <a:solidFill>
            <a:srgbClr val="018CE1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4218" y="3785815"/>
            <a:ext cx="157758" cy="15775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7777" y="4131320"/>
            <a:ext cx="1375097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REST API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907777" y="4357985"/>
            <a:ext cx="3487415" cy="333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Разработка API с документацией Swagger для мобильных приложений и интеграций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4617616" y="3558257"/>
            <a:ext cx="3749650" cy="1263923"/>
          </a:xfrm>
          <a:prstGeom prst="roundRect">
            <a:avLst>
              <a:gd name="adj" fmla="val 13872"/>
            </a:avLst>
          </a:prstGeom>
          <a:solidFill>
            <a:srgbClr val="F3F3FF"/>
          </a:solidFill>
          <a:ln w="14288">
            <a:solidFill>
              <a:srgbClr val="DA33BF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748733" y="3689375"/>
            <a:ext cx="350639" cy="350639"/>
          </a:xfrm>
          <a:prstGeom prst="roundRect">
            <a:avLst>
              <a:gd name="adj" fmla="val 16297185"/>
            </a:avLst>
          </a:prstGeom>
          <a:solidFill>
            <a:srgbClr val="DA33BF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845174" y="3785815"/>
            <a:ext cx="157758" cy="15775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748733" y="4131320"/>
            <a:ext cx="1375097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Безопасность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4748733" y="4357985"/>
            <a:ext cx="3487415" cy="333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Восстановление пароля, CSRF-токены, аудит действий, соответствие требованиям к персональным данным</a:t>
            </a:r>
            <a:endParaRPr lang="en-US" sz="90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60B86CB6-D1F6-BCA8-DAD7-681B0D0272C2}"/>
              </a:ext>
            </a:extLst>
          </p:cNvPr>
          <p:cNvSpPr/>
          <p:nvPr/>
        </p:nvSpPr>
        <p:spPr>
          <a:xfrm>
            <a:off x="7994650" y="4876948"/>
            <a:ext cx="1074564" cy="25385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3F3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3" y="369912"/>
            <a:ext cx="3302719" cy="440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70796" y="397371"/>
            <a:ext cx="3427437" cy="371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Заключение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3870796" y="928464"/>
            <a:ext cx="2362423" cy="1647155"/>
          </a:xfrm>
          <a:prstGeom prst="roundRect">
            <a:avLst>
              <a:gd name="adj" fmla="val 11496"/>
            </a:avLst>
          </a:prstGeom>
          <a:solidFill>
            <a:srgbClr val="F3F3FF">
              <a:alpha val="75000"/>
            </a:srgbClr>
          </a:solidFill>
          <a:ln w="14288">
            <a:solidFill>
              <a:srgbClr val="2D4D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11290" y="1068958"/>
            <a:ext cx="1737420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Разработанный продукт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011290" y="1318468"/>
            <a:ext cx="2081436" cy="930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Веб-приложение на Flask + SQLite с ролями соискатель/работодатель/администратор, поиском, фильтрацией, загрузкой файлов и админ-панелью. 6 тестовых вакансий.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339706" y="928464"/>
            <a:ext cx="2362498" cy="1647155"/>
          </a:xfrm>
          <a:prstGeom prst="roundRect">
            <a:avLst>
              <a:gd name="adj" fmla="val 11496"/>
            </a:avLst>
          </a:prstGeom>
          <a:solidFill>
            <a:srgbClr val="F3F3FF">
              <a:alpha val="75000"/>
            </a:srgbClr>
          </a:solidFill>
          <a:ln w="14288">
            <a:solidFill>
              <a:srgbClr val="018C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80200" y="1068958"/>
            <a:ext cx="1557933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Опыт сопровождения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80200" y="1318468"/>
            <a:ext cx="2081510" cy="11166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dirty="0" err="1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Переход</a:t>
            </a:r>
            <a:r>
              <a:rPr lang="en-US" sz="9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ru-RU" sz="9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 версий</a:t>
            </a:r>
            <a:r>
              <a:rPr lang="en-US" sz="9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→</a:t>
            </a:r>
            <a:r>
              <a:rPr lang="ru-RU" sz="9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 версию</a:t>
            </a:r>
            <a:r>
              <a:rPr lang="en-US" sz="9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продемонстрировал применение стандартов ISO/IEC 14764: корректирующее и совершенствующее сопровождение с сохранением целостности данных через ALTER TABLE.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870796" y="2682106"/>
            <a:ext cx="4831407" cy="1088827"/>
          </a:xfrm>
          <a:prstGeom prst="roundRect">
            <a:avLst>
              <a:gd name="adj" fmla="val 17391"/>
            </a:avLst>
          </a:prstGeom>
          <a:solidFill>
            <a:srgbClr val="F3F3FF">
              <a:alpha val="75000"/>
            </a:srgbClr>
          </a:solidFill>
          <a:ln w="14288">
            <a:solidFill>
              <a:srgbClr val="DA33B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11290" y="2822600"/>
            <a:ext cx="1860203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Практическая значимость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011290" y="3072110"/>
            <a:ext cx="4550420" cy="55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Прототип готов к внедрению как основа реального портала занятости. Обобщённый опыт модернизации применим при изучении дисциплины «Сопровождение информационных систем».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870796" y="3890739"/>
            <a:ext cx="4831407" cy="855315"/>
          </a:xfrm>
          <a:prstGeom prst="roundRect">
            <a:avLst>
              <a:gd name="adj" fmla="val 22139"/>
            </a:avLst>
          </a:prstGeom>
          <a:solidFill>
            <a:srgbClr val="B6FCB8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7003" y="4076179"/>
            <a:ext cx="157758" cy="12620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80967" y="4028777"/>
            <a:ext cx="4295031" cy="55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Комбинация каскадного и итеративного подходов подтвердила эффективность для малых программных проектов при формальном управлении изменениями через Git.</a:t>
            </a:r>
            <a:endParaRPr lang="en-US" sz="95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9F4DCB2-30C6-B85C-CB9F-6498360BA266}"/>
              </a:ext>
            </a:extLst>
          </p:cNvPr>
          <p:cNvSpPr/>
          <p:nvPr/>
        </p:nvSpPr>
        <p:spPr>
          <a:xfrm>
            <a:off x="7804150" y="4773586"/>
            <a:ext cx="1265064" cy="3572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745</Words>
  <Application>Microsoft Office PowerPoint</Application>
  <PresentationFormat>Экран (16:9)</PresentationFormat>
  <Paragraphs>96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Nunito SemiBold</vt:lpstr>
      <vt:lpstr>Arial</vt:lpstr>
      <vt:lpstr>Nunito Light</vt:lpstr>
      <vt:lpstr>PT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Elkodu .</dc:creator>
  <cp:lastModifiedBy>Elkodu .</cp:lastModifiedBy>
  <cp:revision>6</cp:revision>
  <dcterms:created xsi:type="dcterms:W3CDTF">2026-05-28T17:04:18Z</dcterms:created>
  <dcterms:modified xsi:type="dcterms:W3CDTF">2026-05-29T08:08:10Z</dcterms:modified>
</cp:coreProperties>
</file>